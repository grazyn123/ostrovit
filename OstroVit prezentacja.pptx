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1792" y="1051560"/>
            <a:ext cx="91440" cy="448056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9264" y="1298448"/>
            <a:ext cx="10241280" cy="1828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3900" b="1">
                <a:solidFill>
                  <a:srgbClr val="FFFFFF"/>
                </a:solidFill>
                <a:latin typeface="Lato Heavy"/>
              </a:defRPr>
            </a:pPr>
            <a:r>
              <a:t>Dlaczego społeczność może</a:t>
            </a:r>
          </a:p>
          <a:p>
            <a:pPr>
              <a:spcAft>
                <a:spcPts val="600"/>
              </a:spcAft>
              <a:defRPr sz="3900" b="1">
                <a:solidFill>
                  <a:srgbClr val="FFFFFF"/>
                </a:solidFill>
                <a:latin typeface="Lato Heavy"/>
              </a:defRPr>
            </a:pPr>
            <a:r>
              <a:t>zmieniać zachowania klientów?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657600"/>
            <a:ext cx="99669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D3E1EC"/>
                </a:solidFill>
                <a:latin typeface="Lato"/>
              </a:defRPr>
            </a:pPr>
            <a:r>
              <a:t>Autorski projekt analityczny dla hipotetycznej inicjatywy OstroVit · 2027–2031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148072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Lato"/>
              </a:defRPr>
            </a:pPr>
            <a:r>
              <a:t>YouTube  /  Instagram  /  Klienci pomagają klientom  /  Teoria gier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Punkt wyjścia: co proponuję i dlaczego?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Moja perspektywa: mechanizmy społecznościowe trzeba połączyć z analizą sprzedaży.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892807"/>
            <a:ext cx="5349240" cy="327355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892807"/>
            <a:ext cx="68580" cy="3273552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66543"/>
            <a:ext cx="4983479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Pomysł biznesowy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633472"/>
            <a:ext cx="493775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B3E"/>
                </a:solidFill>
                <a:latin typeface="Lato"/>
              </a:defRPr>
            </a:pPr>
            <a:r>
              <a:t>Trzy osoby tworzą rzetelne i angażujące treści. Widzowie trafiają do społeczności, pomagają sobie, wracają i polecają markę.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892807"/>
            <a:ext cx="5349240" cy="327355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892807"/>
            <a:ext cx="68580" cy="3273552"/>
          </a:xfrm>
          <a:prstGeom prst="rect">
            <a:avLst/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2066543"/>
            <a:ext cx="4983479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Rola analityka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633472"/>
            <a:ext cx="4937759" cy="2414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B3E"/>
                </a:solidFill>
                <a:latin typeface="Lato"/>
              </a:defRPr>
            </a:pPr>
            <a:r>
              <a:t>Nie zakładam sukcesu z góry. Formułuję hipotezę, projektuję KPI i sprawdzam, czy dodatkowa marża pokrywa koszt programu.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5833872"/>
            <a:ext cx="10789920" cy="3383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To niezależne studium przypadku. Dane transakcyjne i scenariusze są syntetyczne.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Hipoteza: od relacji do dodatkowego zysku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Co powinno wydarzyć się między pierwszym filmem a zakupem?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21408"/>
            <a:ext cx="2148840" cy="217627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2376" y="2267712"/>
            <a:ext cx="466344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2299716"/>
            <a:ext cx="3200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761488"/>
            <a:ext cx="1920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TREŚĆ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82696"/>
            <a:ext cx="19202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YouTube + Instagram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15768" y="2880360"/>
            <a:ext cx="219456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E775E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2121408"/>
            <a:ext cx="2148840" cy="217627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44952" y="2267712"/>
            <a:ext cx="466344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299716"/>
            <a:ext cx="3200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2761488"/>
            <a:ext cx="1920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RELACJE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5808" y="3282696"/>
            <a:ext cx="19202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Wspólne wyzwania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8344" y="2880360"/>
            <a:ext cx="219456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E775E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9512" y="2121408"/>
            <a:ext cx="2148840" cy="217627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67528" y="2267712"/>
            <a:ext cx="466344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299716"/>
            <a:ext cx="3200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761488"/>
            <a:ext cx="1920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WSPÓŁPRACA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282696"/>
            <a:ext cx="19202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Klienci pomagają klientom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880360"/>
            <a:ext cx="219456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E775E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62088" y="2121408"/>
            <a:ext cx="2148840" cy="217627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90104" y="2267712"/>
            <a:ext cx="466344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63256" y="2299716"/>
            <a:ext cx="3200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2761488"/>
            <a:ext cx="1920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REKOMENDACJE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3282696"/>
            <a:ext cx="19202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Polecenia i powroty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83496" y="2880360"/>
            <a:ext cx="219456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2E775E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84664" y="2121408"/>
            <a:ext cx="2148840" cy="217627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12680" y="2267712"/>
            <a:ext cx="466344" cy="329184"/>
          </a:xfrm>
          <a:prstGeom prst="roundRect">
            <a:avLst>
              <a:gd name="adj" fmla="val 13000"/>
            </a:avLst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85832" y="2299716"/>
            <a:ext cx="32004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761488"/>
            <a:ext cx="192024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WYNIK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3282696"/>
            <a:ext cx="192024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Dodatkowy zysk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4736592"/>
            <a:ext cx="10927080" cy="850392"/>
          </a:xfrm>
          <a:prstGeom prst="roundRect">
            <a:avLst>
              <a:gd name="adj" fmla="val 13000"/>
            </a:avLst>
          </a:prstGeom>
          <a:solidFill>
            <a:srgbClr val="DF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956048"/>
            <a:ext cx="104241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B3E"/>
                </a:solidFill>
                <a:latin typeface="Lato"/>
              </a:defRPr>
            </a:pPr>
            <a:r>
              <a:t>Hipoteza H1: inicjatywa może zwiększyć rekomendacje i ponowne zakupy, ale jej wpływ i rentowność wymagają testu.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Trzy osoby — trzy uzupełniające się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Prowadzący mają tworzyć wartość, nie tylko generować wyświetlenia.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92807"/>
            <a:ext cx="3529584" cy="3401568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92807"/>
            <a:ext cx="68580" cy="3401568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066543"/>
            <a:ext cx="31638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TRENER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633472"/>
            <a:ext cx="3118103" cy="2542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Treningi, wyzwania 30/60/90 dni, wspólne aktywności oraz regularny kontakt z widzami.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892807"/>
            <a:ext cx="3529584" cy="3401568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892807"/>
            <a:ext cx="68580" cy="3401568"/>
          </a:xfrm>
          <a:prstGeom prst="rect">
            <a:avLst/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2066543"/>
            <a:ext cx="31638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EKSPERT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633472"/>
            <a:ext cx="3118103" cy="2542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Rzetelne informacje o żywieniu i suplementacji, odpowiedzi na pytania i wyjaśnianie mitów.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92807"/>
            <a:ext cx="3529584" cy="3401568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892807"/>
            <a:ext cx="68580" cy="3401568"/>
          </a:xfrm>
          <a:prstGeom prst="rect">
            <a:avLst/>
          </a:prstGeom>
          <a:solidFill>
            <a:srgbClr val="D392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66543"/>
            <a:ext cx="3163824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PROWADZĄCY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633472"/>
            <a:ext cx="3118103" cy="2542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Rozmowy, humor, storytelling, moderacja, integrowanie uczestników i organizacja wydarzeń.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5742432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566676"/>
                </a:solidFill>
                <a:latin typeface="Lato"/>
              </a:defRPr>
            </a:pPr>
            <a:r>
              <a:t>Każda funkcja potrzebuje właściciela, budżetu i własnych mierników jakości.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Dlaczego odwołuję się do teorii gier?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Prosta idea: moje decyzje zależą od zachowania innych osób.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5276088" cy="3337560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01952"/>
            <a:ext cx="68580" cy="333756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75688"/>
            <a:ext cx="4910327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Powtarzane interakcje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642616"/>
            <a:ext cx="4864607" cy="24780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B3E"/>
                </a:solidFill>
                <a:latin typeface="Lato"/>
              </a:defRPr>
            </a:pPr>
            <a:r>
              <a:t>Gdy spotykamy się regularnie, dzisiejsze zachowanie wpływa na przyszłe relacje. Pomoc może mieć wartość długoterminową.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901952"/>
            <a:ext cx="5321808" cy="3337560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901952"/>
            <a:ext cx="68580" cy="3337560"/>
          </a:xfrm>
          <a:prstGeom prst="rect">
            <a:avLst/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2075688"/>
            <a:ext cx="4956048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Wzajemność i reputacja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2642616"/>
            <a:ext cx="4910328" cy="24780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B2B3E"/>
                </a:solidFill>
                <a:latin typeface="Lato"/>
              </a:defRPr>
            </a:pPr>
            <a:r>
              <a:t>Pomagam komuś, otrzymuję pomoc lub uznanie. Inni widzą, że współpraca jest doceniana i może się opłacać.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5495544"/>
            <a:ext cx="10817352" cy="530352"/>
          </a:xfrm>
          <a:prstGeom prst="roundRect">
            <a:avLst>
              <a:gd name="adj" fmla="val 13000"/>
            </a:avLst>
          </a:prstGeom>
          <a:solidFill>
            <a:srgbClr val="DF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5623560"/>
            <a:ext cx="10405872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B2B3E"/>
                </a:solidFill>
                <a:latin typeface="Lato"/>
              </a:defRPr>
            </a:pPr>
            <a:r>
              <a:t>Wniosek: teoria gier podpowiada mechanizmy współpracy. Nie dowodzi, że sprzedaż na pewno wzrośnie.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Teoria gier w praktyce: projektowanie zachowań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Każdy mechanizm zamieniam na działanie i mierzalne KPI.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9224" y="1865376"/>
            <a:ext cx="10899648" cy="859536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2514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Gry powtarzane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6432" y="2002536"/>
            <a:ext cx="3904487" cy="5394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Cykliczne treningi i wyzwania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7536" y="2002536"/>
            <a:ext cx="3538728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75E"/>
                </a:solidFill>
                <a:latin typeface="Lato"/>
              </a:defRPr>
            </a:pPr>
            <a:r>
              <a:t>Powracający uczestnicy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" y="2871216"/>
            <a:ext cx="10899648" cy="859536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035808"/>
            <a:ext cx="2514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Wzajemność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3008376"/>
            <a:ext cx="3904487" cy="5394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Pytania i odpowiedzi między klientami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17536" y="3008376"/>
            <a:ext cx="3538728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75E"/>
                </a:solidFill>
                <a:latin typeface="Lato"/>
              </a:defRPr>
            </a:pPr>
            <a:r>
              <a:t>Pomocne odpowiedzi / uczestnik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" y="3877056"/>
            <a:ext cx="10899648" cy="859536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041648"/>
            <a:ext cx="2514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Reputacja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014216"/>
            <a:ext cx="3904487" cy="5394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Wyróżnienia za jakość porad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7536" y="4014216"/>
            <a:ext cx="3538728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75E"/>
                </a:solidFill>
                <a:latin typeface="Lato"/>
              </a:defRPr>
            </a:pPr>
            <a:r>
              <a:t>Ocena jakości odpowiedzi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" y="4882896"/>
            <a:ext cx="10899648" cy="859536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047488"/>
            <a:ext cx="25146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B2B3E"/>
                </a:solidFill>
                <a:latin typeface="Lato"/>
              </a:defRPr>
            </a:pPr>
            <a:r>
              <a:t>Problem gapowicza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5020056"/>
            <a:ext cx="3904487" cy="5394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Moderacja i zachęty do udziału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7536" y="5020056"/>
            <a:ext cx="3538728" cy="5577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75E"/>
                </a:solidFill>
                <a:latin typeface="Lato"/>
              </a:defRPr>
            </a:pPr>
            <a:r>
              <a:t>Odsetek aktywnych członków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161848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66676"/>
                </a:solidFill>
                <a:latin typeface="Lato"/>
              </a:defRPr>
            </a:pPr>
            <a:r>
              <a:t>Mechanizm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1618488"/>
            <a:ext cx="18288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66676"/>
                </a:solidFill>
                <a:latin typeface="Lato"/>
              </a:defRPr>
            </a:pPr>
            <a:r>
              <a:t>Działanie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618488"/>
            <a:ext cx="2286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566676"/>
                </a:solidFill>
                <a:latin typeface="Lato"/>
              </a:defRPr>
            </a:pPr>
            <a:r>
              <a:t>Jak sprawdzę?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Co może pójść nie tak?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Model ma uwzględniać również niekorzystne zachowania i koszty.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" y="1847088"/>
            <a:ext cx="5340096" cy="359359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" y="1847088"/>
            <a:ext cx="68580" cy="3593592"/>
          </a:xfrm>
          <a:prstGeom prst="rect">
            <a:avLst/>
          </a:prstGeom>
          <a:solidFill>
            <a:srgbClr val="A1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20824"/>
            <a:ext cx="49743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Ryzyka społeczności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587752"/>
            <a:ext cx="4928616" cy="2734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Dużo biernych obserwatorów</a:t>
            </a:r>
          </a:p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Niska jakość porad</a:t>
            </a:r>
          </a:p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Spam i sztuczne polecenia</a:t>
            </a:r>
          </a:p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Duży zasięg bez zakupów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47088"/>
            <a:ext cx="5340096" cy="359359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344" y="1847088"/>
            <a:ext cx="68580" cy="3593592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2020824"/>
            <a:ext cx="4974336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Jak ograniczać ryzyko?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587752"/>
            <a:ext cx="4928616" cy="27340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Moderacja i kwalifikacje eksperta</a:t>
            </a:r>
          </a:p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Nagradzanie jakości, nie ilości</a:t>
            </a:r>
          </a:p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Pomiar rzeczywistych poleceń</a:t>
            </a:r>
          </a:p>
          <a:p>
            <a:pPr>
              <a:spcAft>
                <a:spcPts val="600"/>
              </a:spcAft>
              <a:defRPr sz="1700" b="0">
                <a:solidFill>
                  <a:srgbClr val="1B2B3E"/>
                </a:solidFill>
                <a:latin typeface="Lato"/>
              </a:defRPr>
            </a:pPr>
            <a:r>
              <a:t>• Ocena marży oraz kosztów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5843016"/>
            <a:ext cx="1078992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66676"/>
                </a:solidFill>
                <a:latin typeface="Lato"/>
              </a:defRPr>
            </a:pPr>
            <a:r>
              <a:t>Duża społeczność nie jest celem samym w sobie. Liczy się użyteczny udział i wartość dla klientów.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Plan na pięć lat: 2027–2031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Stopniowy rozwój — z oceną wyników i możliwością zmiany kursu.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3504" y="1993392"/>
            <a:ext cx="2121408" cy="345643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8" y="2167128"/>
            <a:ext cx="914400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9132"/>
            <a:ext cx="76809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1856231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B3E"/>
                </a:solidFill>
                <a:latin typeface="Lato"/>
              </a:defRPr>
            </a:pPr>
            <a:r>
              <a:t>START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319272"/>
            <a:ext cx="1847088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Trzy role, kanały, pierwsze formaty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626864"/>
            <a:ext cx="1847088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75E"/>
                </a:solidFill>
                <a:latin typeface="Lato"/>
              </a:defRPr>
            </a:pPr>
            <a:r>
              <a:t>KPI: Koszt treści, wejścia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16936" y="1993392"/>
            <a:ext cx="2121408" cy="345643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40" y="2167128"/>
            <a:ext cx="914400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36392" y="2199132"/>
            <a:ext cx="76809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2028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761488"/>
            <a:ext cx="1856231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B3E"/>
                </a:solidFill>
                <a:latin typeface="Lato"/>
              </a:defRPr>
            </a:pPr>
            <a:r>
              <a:t>RELACJE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319272"/>
            <a:ext cx="1847088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Wyzwania, eventy, grupy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626864"/>
            <a:ext cx="1847088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75E"/>
                </a:solidFill>
                <a:latin typeface="Lato"/>
              </a:defRPr>
            </a:pPr>
            <a:r>
              <a:t>KPI: Aktywni i powracający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30368" y="1993392"/>
            <a:ext cx="2121408" cy="345643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76672" y="2167128"/>
            <a:ext cx="914400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9824" y="2199132"/>
            <a:ext cx="76809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2029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761488"/>
            <a:ext cx="1856231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B3E"/>
                </a:solidFill>
                <a:latin typeface="Lato"/>
              </a:defRPr>
            </a:pPr>
            <a:r>
              <a:t>POLECENIA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319272"/>
            <a:ext cx="1847088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Referral, linki, pomiar zakupów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4626864"/>
            <a:ext cx="1847088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75E"/>
                </a:solidFill>
                <a:latin typeface="Lato"/>
              </a:defRPr>
            </a:pPr>
            <a:r>
              <a:t>KPI: Konwersja, nowi klienci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1993392"/>
            <a:ext cx="2121408" cy="345643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90104" y="2167128"/>
            <a:ext cx="914400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63256" y="2199132"/>
            <a:ext cx="76809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0104" y="2761488"/>
            <a:ext cx="1856231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B3E"/>
                </a:solidFill>
                <a:latin typeface="Lato"/>
              </a:defRPr>
            </a:pPr>
            <a:r>
              <a:t>SKALA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0104" y="3319272"/>
            <a:ext cx="1847088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Ambasadorzy i nowe formaty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0104" y="4626864"/>
            <a:ext cx="1847088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75E"/>
                </a:solidFill>
                <a:latin typeface="Lato"/>
              </a:defRPr>
            </a:pPr>
            <a:r>
              <a:t>KPI: Retencja, zysk na uczestnika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57232" y="1993392"/>
            <a:ext cx="2121408" cy="3456432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003536" y="2167128"/>
            <a:ext cx="914400" cy="329184"/>
          </a:xfrm>
          <a:prstGeom prst="roundRect">
            <a:avLst>
              <a:gd name="adj" fmla="val 13000"/>
            </a:avLst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76688" y="2199132"/>
            <a:ext cx="76809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2031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3536" y="2761488"/>
            <a:ext cx="1856231" cy="393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B2B3E"/>
                </a:solidFill>
                <a:latin typeface="Lato"/>
              </a:defRPr>
            </a:pPr>
            <a:r>
              <a:t>OCENA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3319272"/>
            <a:ext cx="1847088" cy="9509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Bilans całej inwestycji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4626864"/>
            <a:ext cx="1847088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E775E"/>
                </a:solidFill>
                <a:latin typeface="Lato"/>
              </a:defRPr>
            </a:pPr>
            <a:r>
              <a:t>KPI: Skumulowany zysk,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Scenariusze: nie zgaduję jednej przyszłości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Low / Base / High to warianty założeń, a nie prognozy wyników firmy.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56231"/>
            <a:ext cx="3493008" cy="3538728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56231"/>
            <a:ext cx="68580" cy="3538728"/>
          </a:xfrm>
          <a:prstGeom prst="rect">
            <a:avLst/>
          </a:prstGeom>
          <a:solidFill>
            <a:srgbClr val="A1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29967"/>
            <a:ext cx="3127248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96896"/>
            <a:ext cx="3081527" cy="2679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  <a:r>
              <a:t>Wolniejszy wzrost widowni, niższa konwersja i ograniczony koszt programu.</a:t>
            </a:r>
          </a:p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  <a:r>
              <a:t>Model: 0,6× przychodu Base, 0,9× kosztu.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56231"/>
            <a:ext cx="3493008" cy="3538728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56231"/>
            <a:ext cx="68580" cy="3538728"/>
          </a:xfrm>
          <a:prstGeom prst="rect">
            <a:avLst/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2029967"/>
            <a:ext cx="3127248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2596896"/>
            <a:ext cx="3081527" cy="2679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  <a:r>
              <a:t>Stały rozwój treści i społeczności przy kontroli wydatków.</a:t>
            </a:r>
          </a:p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  <a:r>
              <a:t>Model: 1,0× przychodu i kosztu.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856231"/>
            <a:ext cx="3493008" cy="3538728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856231"/>
            <a:ext cx="68580" cy="3538728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6" y="2029967"/>
            <a:ext cx="3127248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 Heavy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6" y="2596896"/>
            <a:ext cx="3081527" cy="26791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  <a:r>
              <a:t>Szybszy rozwój odbiorców, więcej poleceń i wyższa konwersja.</a:t>
            </a:r>
          </a:p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</a:p>
          <a:p>
            <a:pPr>
              <a:spcAft>
                <a:spcPts val="600"/>
              </a:spcAft>
              <a:defRPr sz="1600" b="0">
                <a:solidFill>
                  <a:srgbClr val="1B2B3E"/>
                </a:solidFill>
                <a:latin typeface="Lato"/>
              </a:defRPr>
            </a:pPr>
            <a:r>
              <a:t>Model: 1,5× przychodu, 1,15× kosztu.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5779008"/>
            <a:ext cx="1069848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566676"/>
                </a:solidFill>
                <a:latin typeface="Lato"/>
              </a:defRPr>
            </a:pPr>
            <a:r>
              <a:t>Parametry trzeba testować osobno: zasięg, konwersję, retencję, marżę i koszt trzech prowadzących.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Czy projekt się opłaca? Liczy się marża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Ilustracyjne wyniki pięcioletnie z przesłanej prezentacji; nie są prognozą OstroVit.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3547872" cy="2377440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2176272"/>
            <a:ext cx="960120" cy="329184"/>
          </a:xfrm>
          <a:prstGeom prst="roundRect">
            <a:avLst>
              <a:gd name="adj" fmla="val 13000"/>
            </a:avLst>
          </a:prstGeom>
          <a:solidFill>
            <a:srgbClr val="A14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08276"/>
            <a:ext cx="81381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3099816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A14D50"/>
                </a:solidFill>
                <a:latin typeface="Lato Heavy"/>
              </a:defRPr>
            </a:pPr>
            <a:r>
              <a:t>−535 tys. zł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65960"/>
            <a:ext cx="3547872" cy="2377440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73168" y="2176272"/>
            <a:ext cx="960120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208276"/>
            <a:ext cx="81381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916936"/>
            <a:ext cx="3099816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446385"/>
                </a:solidFill>
                <a:latin typeface="Lato Heavy"/>
              </a:defRPr>
            </a:pPr>
            <a:r>
              <a:t>+123 tys. zł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965960"/>
            <a:ext cx="3547872" cy="2377440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613648" y="2176272"/>
            <a:ext cx="960120" cy="329184"/>
          </a:xfrm>
          <a:prstGeom prst="roundRect">
            <a:avLst>
              <a:gd name="adj" fmla="val 13000"/>
            </a:avLst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208276"/>
            <a:ext cx="813816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916936"/>
            <a:ext cx="3099816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2E775E"/>
                </a:solidFill>
                <a:latin typeface="Lato Heavy"/>
              </a:defRPr>
            </a:pPr>
            <a:r>
              <a:t>+894 tys. zł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4773168"/>
            <a:ext cx="10698480" cy="804672"/>
          </a:xfrm>
          <a:prstGeom prst="roundRect">
            <a:avLst>
              <a:gd name="adj" fmla="val 13000"/>
            </a:avLst>
          </a:prstGeom>
          <a:solidFill>
            <a:srgbClr val="DF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020056"/>
            <a:ext cx="10332720" cy="42062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B3E"/>
                </a:solidFill>
                <a:latin typeface="Lato"/>
              </a:defRPr>
            </a:pPr>
            <a:r>
              <a:t>Dodatkowy zysk = dodatkowy przychód × marża kontrybucyjna − koszt programu.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797296"/>
            <a:ext cx="10515600" cy="3566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66676"/>
                </a:solidFill>
                <a:latin typeface="Lato"/>
              </a:defRPr>
            </a:pPr>
            <a:r>
              <a:t>Wariant Base w modelu ilustracyjnym: dodatni wynik roczny w 2030; zwrot skumulowany w 2031.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E7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93192"/>
            <a:ext cx="11109960" cy="6583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B2B3E"/>
                </a:solidFill>
                <a:latin typeface="Lato Heavy"/>
              </a:defRPr>
            </a:pPr>
            <a:r>
              <a:t>Najpierw sprawdzam hipotezę — potem skaluję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Pilotaż chroni przed pięcioletnim wydatkiem opartym wyłącznie na intuicji.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36192"/>
            <a:ext cx="11018520" cy="22860"/>
          </a:xfrm>
          <a:prstGeom prst="rect">
            <a:avLst/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2039112"/>
            <a:ext cx="2642616" cy="2084831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203704"/>
            <a:ext cx="438912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235708"/>
            <a:ext cx="292607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2491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B3E"/>
                </a:solidFill>
                <a:latin typeface="Lato"/>
              </a:defRPr>
            </a:pPr>
            <a:r>
              <a:t>0–2 mies.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55264"/>
            <a:ext cx="2313432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Zespół, formaty,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2039112"/>
            <a:ext cx="2642616" cy="2084831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03320" y="2203704"/>
            <a:ext cx="438912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235708"/>
            <a:ext cx="292607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72491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B3E"/>
                </a:solidFill>
                <a:latin typeface="Lato"/>
              </a:defRPr>
            </a:pPr>
            <a:r>
              <a:t>3–4 mies.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55264"/>
            <a:ext cx="2313432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Publikacje i pierwsze interakcje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28231" y="2039112"/>
            <a:ext cx="2642616" cy="2084831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79" y="2203704"/>
            <a:ext cx="438912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1" y="2235708"/>
            <a:ext cx="292607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272491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B3E"/>
                </a:solidFill>
                <a:latin typeface="Lato"/>
              </a:defRPr>
            </a:pPr>
            <a:r>
              <a:t>5–6 mies.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3255264"/>
            <a:ext cx="2313432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Losowe zaproszenia do community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08592" y="2039112"/>
            <a:ext cx="2642616" cy="2084831"/>
          </a:xfrm>
          <a:prstGeom prst="roundRect">
            <a:avLst>
              <a:gd name="adj" fmla="val 13000"/>
            </a:avLst>
          </a:prstGeom>
          <a:solidFill>
            <a:srgbClr val="EA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464040" y="2203704"/>
            <a:ext cx="438912" cy="329184"/>
          </a:xfrm>
          <a:prstGeom prst="roundRect">
            <a:avLst>
              <a:gd name="adj" fmla="val 13000"/>
            </a:avLst>
          </a:prstGeom>
          <a:solidFill>
            <a:srgbClr val="446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37192" y="2235708"/>
            <a:ext cx="292607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FFFFF"/>
                </a:solidFill>
                <a:latin typeface="Lato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724912"/>
            <a:ext cx="228600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1B2B3E"/>
                </a:solidFill>
                <a:latin typeface="Lato"/>
              </a:defRPr>
            </a:pPr>
            <a:r>
              <a:t>Po 6 mies.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3255264"/>
            <a:ext cx="2313432" cy="6217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B2B3E"/>
                </a:solidFill>
                <a:latin typeface="Lato"/>
              </a:defRPr>
            </a:pPr>
            <a:r>
              <a:t>Porównanie efektu i kosztów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" y="4608576"/>
            <a:ext cx="10808208" cy="1024128"/>
          </a:xfrm>
          <a:prstGeom prst="roundRect">
            <a:avLst>
              <a:gd name="adj" fmla="val 13000"/>
            </a:avLst>
          </a:prstGeom>
          <a:solidFill>
            <a:srgbClr val="DF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55464"/>
            <a:ext cx="1037844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B2B3E"/>
                </a:solidFill>
                <a:latin typeface="Lato"/>
              </a:defRPr>
            </a:pPr>
            <a:r>
              <a:t>Moja propozycja: mierzalny pilotaż + 5-letni model warunków opłacalności, a nie obietnica wzrostu sprzedaży.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971032"/>
            <a:ext cx="1065276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66676"/>
                </a:solidFill>
                <a:latin typeface="Lato"/>
              </a:defRPr>
            </a:pPr>
            <a:r>
              <a:t>Test zaproszeń bada efekt community; publiczny YouTube wymaga osobnego sposobu oceny wpływu.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